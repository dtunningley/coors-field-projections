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9ca2018-dd37-f7cc-77f1-89864b88c821}">
          <p14:sldIdLst>
            <p14:sldId id="256"/>
            <p14:sldId id="257"/>
          </p14:sldIdLst>
        </p14:section>
        <p14:section name="Method" id="{8f044c35-257c-6ff2-ba69-d424307bac3a}">
          <p14:sldIdLst>
            <p14:sldId id="258"/>
          </p14:sldIdLst>
        </p14:section>
        <p14:section name="Findings" id="{e1cb144b-0c38-ed96-9c72-e03428927530}">
          <p14:sldIdLst>
            <p14:sldId id="259"/>
            <p14:sldId id="260"/>
          </p14:sldIdLst>
        </p14:section>
        <p14:section name="2026 check" id="{b72d7552-767a-9bac-a33b-d3ac9f48c3bb}">
          <p14:sldIdLst>
            <p14:sldId id="261"/>
            <p14:sldId id="262"/>
          </p14:sldIdLst>
        </p14:section>
        <p14:section name="Next steps" id="{7ac75139-f640-b16e-732b-ae48c341093f}">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F6A76"/>
                </a:solidFill>
                <a:latin typeface="+mn-lt"/>
              </a:defRPr>
            </a:pPr>
            <a:r>
              <a:rPr sz="1300" b="0" i="0" u="none" strike="noStrike">
                <a:solidFill>
                  <a:srgbClr val="6F6A76"/>
                </a:solidFill>
                <a:latin typeface="+mn-lt"/>
              </a:rPr>
              <a:t>Coors Field park factor by outcome (1.00 = average park)</a:t>
            </a:r>
          </a:p>
        </c:rich>
      </c:tx>
      <c:layout/>
      <c:overlay val="0"/>
    </c:title>
    <c:autoTitleDeleted val="0"/>
    <c:plotArea>
      <c:layout/>
      <c:barChart>
        <c:barDir val="bar"/>
        <c:grouping val="clustered"/>
        <c:varyColors val="0"/>
        <c:ser>
          <c:idx val="0"/>
          <c:order val="0"/>
          <c:tx>
            <c:strRef>
              <c:f>Sheet1!$B$1</c:f>
              <c:strCache>
                <c:ptCount val="1"/>
                <c:pt idx="0">
                  <c:v>Coors park factor</c:v>
                </c:pt>
              </c:strCache>
            </c:strRef>
          </c:tx>
          <c:spPr>
            <a:solidFill>
              <a:srgbClr val="5B3A8C"/>
            </a:solidFill>
            <a:effectLst/>
          </c:spPr>
          <c:invertIfNegative val="0"/>
          <c:dLbls>
            <c:numFmt formatCode="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cat>
            <c:multiLvlStrRef>
              <c:f>Sheet1!$A$2:$A$8</c:f>
              <c:multiLvlStrCache>
                <c:ptCount val="7"/>
                <c:lvl>
                  <c:pt idx="0">
                    <c:v>Strikeouts</c:v>
                  </c:pt>
                  <c:pt idx="1">
                    <c:v>Hit by pitch</c:v>
                  </c:pt>
                  <c:pt idx="2">
                    <c:v>Walks</c:v>
                  </c:pt>
                  <c:pt idx="3">
                    <c:v>Home runs</c:v>
                  </c:pt>
                  <c:pt idx="4">
                    <c:v>Triples</c:v>
                  </c:pt>
                  <c:pt idx="5">
                    <c:v>Doubles</c:v>
                  </c:pt>
                  <c:pt idx="6">
                    <c:v>Singles</c:v>
                  </c:pt>
                </c:lvl>
              </c:multiLvlStrCache>
            </c:multiLvlStrRef>
          </c:cat>
          <c:val>
            <c:numRef>
              <c:f>Sheet1!$B$2:$B$8</c:f>
              <c:numCache>
                <c:formatCode>General</c:formatCode>
                <c:ptCount val="7"/>
                <c:pt idx="0">
                  <c:v>0.91</c:v>
                </c:pt>
                <c:pt idx="1">
                  <c:v>0.848</c:v>
                </c:pt>
                <c:pt idx="2">
                  <c:v>1.033</c:v>
                </c:pt>
                <c:pt idx="3">
                  <c:v>1.018</c:v>
                </c:pt>
                <c:pt idx="4">
                  <c:v>1.716</c:v>
                </c:pt>
                <c:pt idx="5">
                  <c:v>1.142</c:v>
                </c:pt>
                <c:pt idx="6">
                  <c:v>1.126</c:v>
                </c:pt>
              </c:numCache>
            </c:numRef>
          </c:val>
        </c:ser>
        <c:dLbls>
          <c:numFmt formatCode="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1A24"/>
                </a:solidFill>
                <a:latin typeface="+mn-lt"/>
              </a:defRPr>
            </a:pPr>
            <a:endParaRPr lang="en-US"/>
          </a:p>
        </c:txPr>
        <c:crossAx val="2094734552"/>
        <c:crosses val="autoZero"/>
        <c:auto val="1"/>
        <c:lblAlgn val="ctr"/>
        <c:noMultiLvlLbl val="1"/>
      </c:catAx>
      <c:valAx>
        <c:axId val="2094734552"/>
        <c:scaling>
          <c:orientation val="minMax"/>
          <c:max val="2"/>
          <c:min val="0"/>
        </c:scaling>
        <c:delete val="0"/>
        <c:axPos val="b"/>
        <c:majorGridlines>
          <c:spPr>
            <a:ln w="9525" cap="flat">
              <a:solidFill>
                <a:srgbClr val="E4E1E8"/>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6F6A76"/>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F6A76"/>
                </a:solidFill>
                <a:latin typeface="+mn-lt"/>
              </a:defRPr>
            </a:pPr>
            <a:r>
              <a:rPr sz="1300" b="0" i="0" u="none" strike="noStrike">
                <a:solidFill>
                  <a:srgbClr val="6F6A76"/>
                </a:solidFill>
                <a:latin typeface="+mn-lt"/>
              </a:rPr>
              <a:t>Actual minus projected wOBA, points (above zero = projection too low)</a:t>
            </a:r>
          </a:p>
        </c:rich>
      </c:tx>
      <c:layout/>
      <c:overlay val="0"/>
    </c:title>
    <c:autoTitleDeleted val="0"/>
    <c:plotArea>
      <c:layout/>
      <c:barChart>
        <c:barDir val="col"/>
        <c:grouping val="clustered"/>
        <c:varyColors val="0"/>
        <c:ser>
          <c:idx val="0"/>
          <c:order val="0"/>
          <c:tx>
            <c:strRef>
              <c:f>Sheet1!$B$1</c:f>
              <c:strCache>
                <c:ptCount val="1"/>
                <c:pt idx="0">
                  <c:v>Plain Marcel</c:v>
                </c:pt>
              </c:strCache>
            </c:strRef>
          </c:tx>
          <c:spPr>
            <a:solidFill>
              <a:srgbClr val="A7A2AE"/>
            </a:solidFill>
            <a:effectLst/>
          </c:spPr>
          <c:invertIfNegative val="0"/>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cat>
            <c:multiLvlStrRef>
              <c:f>Sheet1!$A$2:$A$5</c:f>
              <c:multiLvlStrCache>
                <c:ptCount val="4"/>
                <c:lvl>
                  <c:pt idx="0">
                    <c:v>All hitters (1,673)</c:v>
                  </c:pt>
                  <c:pt idx="1">
                    <c:v>Stayed with Rockies (58)</c:v>
                  </c:pt>
                  <c:pt idx="2">
                    <c:v>Joined Rockies (12)</c:v>
                  </c:pt>
                  <c:pt idx="3">
                    <c:v>Left Rockies (10)</c:v>
                  </c:pt>
                </c:lvl>
              </c:multiLvlStrCache>
            </c:multiLvlStrRef>
          </c:cat>
          <c:val>
            <c:numRef>
              <c:f>Sheet1!$B$2:$B$5</c:f>
              <c:numCache>
                <c:formatCode>General</c:formatCode>
                <c:ptCount val="4"/>
                <c:pt idx="0">
                  <c:v>-5.1</c:v>
                </c:pt>
                <c:pt idx="1">
                  <c:v>-2.2</c:v>
                </c:pt>
                <c:pt idx="2">
                  <c:v>15</c:v>
                </c:pt>
                <c:pt idx="3">
                  <c:v>-7.3</c:v>
                </c:pt>
              </c:numCache>
            </c:numRef>
          </c:val>
        </c:ser>
        <c:ser>
          <c:idx val="1"/>
          <c:order val="1"/>
          <c:tx>
            <c:strRef>
              <c:f>Sheet1!$C$1</c:f>
              <c:strCache>
                <c:ptCount val="1"/>
                <c:pt idx="0">
                  <c:v>Park-adjusted</c:v>
                </c:pt>
              </c:strCache>
            </c:strRef>
          </c:tx>
          <c:spPr>
            <a:solidFill>
              <a:srgbClr val="5B3A8C"/>
            </a:solidFill>
            <a:effectLst/>
          </c:spPr>
          <c:invertIfNegative val="0"/>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cat>
            <c:multiLvlStrRef>
              <c:f>Sheet1!$A$2:$A$5</c:f>
              <c:multiLvlStrCache>
                <c:ptCount val="4"/>
                <c:lvl>
                  <c:pt idx="0">
                    <c:v>All hitters (1,673)</c:v>
                  </c:pt>
                  <c:pt idx="1">
                    <c:v>Stayed with Rockies (58)</c:v>
                  </c:pt>
                  <c:pt idx="2">
                    <c:v>Joined Rockies (12)</c:v>
                  </c:pt>
                  <c:pt idx="3">
                    <c:v>Left Rockies (10)</c:v>
                  </c:pt>
                </c:lvl>
              </c:multiLvlStrCache>
            </c:multiLvlStrRef>
          </c:cat>
          <c:val>
            <c:numRef>
              <c:f>Sheet1!$C$2:$C$5</c:f>
              <c:numCache>
                <c:formatCode>General</c:formatCode>
                <c:ptCount val="4"/>
                <c:pt idx="0">
                  <c:v>-4.8</c:v>
                </c:pt>
                <c:pt idx="1">
                  <c:v>-9.8</c:v>
                </c:pt>
                <c:pt idx="2">
                  <c:v>0.5</c:v>
                </c:pt>
                <c:pt idx="3">
                  <c:v>3.7</c:v>
                </c:pt>
              </c:numCache>
            </c:numRef>
          </c:val>
        </c:ser>
        <c:ser>
          <c:idx val="2"/>
          <c:order val="2"/>
          <c:tx>
            <c:strRef>
              <c:f>Sheet1!$D$1</c:f>
              <c:strCache>
                <c:ptCount val="1"/>
                <c:pt idx="0">
                  <c:v>Park + Rockies multipliers</c:v>
                </c:pt>
              </c:strCache>
            </c:strRef>
          </c:tx>
          <c:spPr>
            <a:solidFill>
              <a:srgbClr val="B9A6D6"/>
            </a:solidFill>
            <a:effectLst/>
          </c:spPr>
          <c:invertIfNegative val="0"/>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cat>
            <c:multiLvlStrRef>
              <c:f>Sheet1!$A$2:$A$5</c:f>
              <c:multiLvlStrCache>
                <c:ptCount val="4"/>
                <c:lvl>
                  <c:pt idx="0">
                    <c:v>All hitters (1,673)</c:v>
                  </c:pt>
                  <c:pt idx="1">
                    <c:v>Stayed with Rockies (58)</c:v>
                  </c:pt>
                  <c:pt idx="2">
                    <c:v>Joined Rockies (12)</c:v>
                  </c:pt>
                  <c:pt idx="3">
                    <c:v>Left Rockies (10)</c:v>
                  </c:pt>
                </c:lvl>
              </c:multiLvlStrCache>
            </c:multiLvlStrRef>
          </c:cat>
          <c:val>
            <c:numRef>
              <c:f>Sheet1!$D$2:$D$5</c:f>
              <c:numCache>
                <c:formatCode>General</c:formatCode>
                <c:ptCount val="4"/>
                <c:pt idx="0">
                  <c:v>-4.8</c:v>
                </c:pt>
                <c:pt idx="1">
                  <c:v>-7.9</c:v>
                </c:pt>
                <c:pt idx="2">
                  <c:v>4.6</c:v>
                </c:pt>
                <c:pt idx="3">
                  <c:v>0.8</c:v>
                </c:pt>
              </c:numCache>
            </c:numRef>
          </c:val>
        </c:ser>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1A24"/>
                </a:solidFill>
                <a:latin typeface="+mn-lt"/>
              </a:defRPr>
            </a:pPr>
            <a:endParaRPr lang="en-US"/>
          </a:p>
        </c:txPr>
        <c:crossAx val="2094734552"/>
        <c:crosses val="autoZero"/>
        <c:auto val="1"/>
        <c:lblAlgn val="ctr"/>
        <c:noMultiLvlLbl val="1"/>
      </c:catAx>
      <c:valAx>
        <c:axId val="2094734552"/>
        <c:scaling>
          <c:orientation val="minMax"/>
          <c:max val="18"/>
          <c:min val="-12"/>
        </c:scaling>
        <c:delete val="0"/>
        <c:axPos val="l"/>
        <c:majorGridlines>
          <c:spPr>
            <a:ln w="9525" cap="flat">
              <a:solidFill>
                <a:srgbClr val="E4E1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6F6A76"/>
                </a:solidFill>
                <a:latin typeface="+mn-lt"/>
              </a:defRPr>
            </a:pPr>
            <a:endParaRPr lang="en-US"/>
          </a:p>
        </c:txPr>
        <c:crossAx val="2094734554"/>
        <c:crosses val="autoZero"/>
        <c:crossBetween val="between"/>
        <c:majorUnit val="6"/>
      </c:valAx>
      <c:spPr>
        <a:noFill/>
        <a:ln>
          <a:noFill/>
        </a:ln>
        <a:effectLst/>
      </c:spPr>
    </c:plotArea>
    <c:legend>
      <c:legendPos val="t"/>
      <c:overlay val="0"/>
      <c:txPr>
        <a:bodyPr/>
        <a:lstStyle/>
        <a:p>
          <a:pPr>
            <a:defRPr sz="1300">
              <a:solidFill>
                <a:srgbClr val="1F1A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F6A76"/>
                </a:solidFill>
                <a:latin typeface="+mn-lt"/>
              </a:defRPr>
            </a:pPr>
            <a:r>
              <a:rPr sz="1300" b="0" i="0" u="none" strike="noStrike">
                <a:solidFill>
                  <a:srgbClr val="6F6A76"/>
                </a:solidFill>
                <a:latin typeface="+mn-lt"/>
              </a:rPr>
              <a:t>2026 bias: actual minus projected wOBA, points</a:t>
            </a:r>
          </a:p>
        </c:rich>
      </c:tx>
      <c:layout/>
      <c:overlay val="0"/>
    </c:title>
    <c:autoTitleDeleted val="0"/>
    <c:plotArea>
      <c:layout/>
      <c:barChart>
        <c:barDir val="col"/>
        <c:grouping val="clustered"/>
        <c:varyColors val="0"/>
        <c:ser>
          <c:idx val="0"/>
          <c:order val="0"/>
          <c:tx>
            <c:strRef>
              <c:f>Sheet1!$B$1</c:f>
              <c:strCache>
                <c:ptCount val="1"/>
                <c:pt idx="0">
                  <c:v>Plain Marcel</c:v>
                </c:pt>
              </c:strCache>
            </c:strRef>
          </c:tx>
          <c:spPr>
            <a:solidFill>
              <a:srgbClr val="A7A2AE"/>
            </a:solidFill>
            <a:effectLst/>
          </c:spPr>
          <c:invertIfNegative val="0"/>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cat>
            <c:multiLvlStrRef>
              <c:f>Sheet1!$A$2:$A$3</c:f>
              <c:multiLvlStrCache>
                <c:ptCount val="2"/>
                <c:lvl>
                  <c:pt idx="0">
                    <c:v>Joined Rockies (6)</c:v>
                  </c:pt>
                  <c:pt idx="1">
                    <c:v>Stayed with Rockies (7)</c:v>
                  </c:pt>
                </c:lvl>
              </c:multiLvlStrCache>
            </c:multiLvlStrRef>
          </c:cat>
          <c:val>
            <c:numRef>
              <c:f>Sheet1!$B$2:$B$3</c:f>
              <c:numCache>
                <c:formatCode>General</c:formatCode>
                <c:ptCount val="2"/>
                <c:pt idx="0">
                  <c:v>13.9</c:v>
                </c:pt>
                <c:pt idx="1">
                  <c:v>-10.1</c:v>
                </c:pt>
              </c:numCache>
            </c:numRef>
          </c:val>
        </c:ser>
        <c:ser>
          <c:idx val="1"/>
          <c:order val="1"/>
          <c:tx>
            <c:strRef>
              <c:f>Sheet1!$C$1</c:f>
              <c:strCache>
                <c:ptCount val="1"/>
                <c:pt idx="0">
                  <c:v>Park-adjusted</c:v>
                </c:pt>
              </c:strCache>
            </c:strRef>
          </c:tx>
          <c:spPr>
            <a:solidFill>
              <a:srgbClr val="5B3A8C"/>
            </a:solidFill>
            <a:effectLst/>
          </c:spPr>
          <c:invertIfNegative val="0"/>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cat>
            <c:multiLvlStrRef>
              <c:f>Sheet1!$A$2:$A$3</c:f>
              <c:multiLvlStrCache>
                <c:ptCount val="2"/>
                <c:lvl>
                  <c:pt idx="0">
                    <c:v>Joined Rockies (6)</c:v>
                  </c:pt>
                  <c:pt idx="1">
                    <c:v>Stayed with Rockies (7)</c:v>
                  </c:pt>
                </c:lvl>
              </c:multiLvlStrCache>
            </c:multiLvlStrRef>
          </c:cat>
          <c:val>
            <c:numRef>
              <c:f>Sheet1!$C$2:$C$3</c:f>
              <c:numCache>
                <c:formatCode>General</c:formatCode>
                <c:ptCount val="2"/>
                <c:pt idx="0">
                  <c:v>0.5</c:v>
                </c:pt>
                <c:pt idx="1">
                  <c:v>-16.9</c:v>
                </c:pt>
              </c:numCache>
            </c:numRef>
          </c:val>
        </c:ser>
        <c:ser>
          <c:idx val="2"/>
          <c:order val="2"/>
          <c:tx>
            <c:strRef>
              <c:f>Sheet1!$D$1</c:f>
              <c:strCache>
                <c:ptCount val="1"/>
                <c:pt idx="0">
                  <c:v>Park + Rockies multipliers</c:v>
                </c:pt>
              </c:strCache>
            </c:strRef>
          </c:tx>
          <c:spPr>
            <a:solidFill>
              <a:srgbClr val="B9A6D6"/>
            </a:solidFill>
            <a:effectLst/>
          </c:spPr>
          <c:invertIfNegative val="0"/>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cat>
            <c:multiLvlStrRef>
              <c:f>Sheet1!$A$2:$A$3</c:f>
              <c:multiLvlStrCache>
                <c:ptCount val="2"/>
                <c:lvl>
                  <c:pt idx="0">
                    <c:v>Joined Rockies (6)</c:v>
                  </c:pt>
                  <c:pt idx="1">
                    <c:v>Stayed with Rockies (7)</c:v>
                  </c:pt>
                </c:lvl>
              </c:multiLvlStrCache>
            </c:multiLvlStrRef>
          </c:cat>
          <c:val>
            <c:numRef>
              <c:f>Sheet1!$D$2:$D$3</c:f>
              <c:numCache>
                <c:formatCode>General</c:formatCode>
                <c:ptCount val="2"/>
                <c:pt idx="0">
                  <c:v>4.1</c:v>
                </c:pt>
                <c:pt idx="1">
                  <c:v>-15.1</c:v>
                </c:pt>
              </c:numCache>
            </c:numRef>
          </c:val>
        </c:ser>
        <c:dLbls>
          <c:numFmt formatCode="+0.0;-0.0;0.0" sourceLinked="0"/>
          <c:txPr>
            <a:bodyPr/>
            <a:lstStyle/>
            <a:p>
              <a:pPr>
                <a:defRPr b="0" i="0" strike="noStrike" sz="1200" u="none">
                  <a:solidFill>
                    <a:srgbClr val="1F1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1A24"/>
                </a:solidFill>
                <a:latin typeface="+mn-lt"/>
              </a:defRPr>
            </a:pPr>
            <a:endParaRPr lang="en-US"/>
          </a:p>
        </c:txPr>
        <c:crossAx val="2094734552"/>
        <c:crosses val="autoZero"/>
        <c:auto val="1"/>
        <c:lblAlgn val="ctr"/>
        <c:noMultiLvlLbl val="1"/>
      </c:catAx>
      <c:valAx>
        <c:axId val="2094734552"/>
        <c:scaling>
          <c:orientation val="minMax"/>
          <c:max val="20"/>
          <c:min val="-20"/>
        </c:scaling>
        <c:delete val="0"/>
        <c:axPos val="l"/>
        <c:majorGridlines>
          <c:spPr>
            <a:ln w="9525" cap="flat">
              <a:solidFill>
                <a:srgbClr val="E4E1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6F6A76"/>
                </a:solidFill>
                <a:latin typeface="+mn-lt"/>
              </a:defRPr>
            </a:pPr>
            <a:endParaRPr lang="en-US"/>
          </a:p>
        </c:txPr>
        <c:crossAx val="2094734554"/>
        <c:crosses val="autoZero"/>
        <c:crossBetween val="between"/>
        <c:majorUnit val="10"/>
      </c:valAx>
      <c:spPr>
        <a:noFill/>
        <a:ln>
          <a:noFill/>
        </a:ln>
        <a:effectLst/>
      </c:spPr>
    </c:plotArea>
    <c:legend>
      <c:legendPos val="t"/>
      <c:overlay val="0"/>
      <c:txPr>
        <a:bodyPr/>
        <a:lstStyle/>
        <a:p>
          <a:pPr>
            <a:defRPr sz="1300">
              <a:solidFill>
                <a:srgbClr val="1F1A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transparent hitter projection system that asks whether handling Coors Field explicitly makes forecasts better, and for whom. Built from every MLB plate appearance from 2012 to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carry the story. Accounting for Coors outcome by outcome removes almost all the error on hitters who move to Denver. The data base is large. The remaining weakness is that the model overrates hitters who stay with the Rockies, which points to the next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Retrosheet event files 2012-2025, extracted with Chadwick tools. Rates per plate appearance excluding intentional walks and sacrifice bunts. wOBA uses fixed weights so seasons compare. Park factors: rate at the park over the host team's road rate, prior three seasons, shrunk toward 1. Regression tuned to 2,000 PA of league average, more than Marcel's standard 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park factors from 2023-2025 games: rate at Coors over the Rockies' road rate, counting both teams, shrunk toward 1 by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Held-out seasons 2021-2025, hitters with 200+ PA, PA-weighted. Small groups: the 95% bootstrap intervals on accuracy gains for joiners and leavers include zero, so this is a strong direction, not proof. The Coors hangover is real in training data (about 10% fewer road homers) but modeling it did not improve out-of-sample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2026 lines from Fox Sports' regular-season team batting page. That table lacks HBP and intentional walks, so HBP was backed out of OBP and intentional walks counted as walks; actual wOBA is a close approximation. Plain Marcel's +0.9 overall is two large errors canceling.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Newcomer misses scatter both ways around zero. Holdover misses lean heavily negative: Beck -69, Tovar -52, Doyle -43. Marcel's aging curve credits young hitters with growth; these three regressed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priority: it addresses the error that showed up in both the backtest and 2026. Code, extraction scripts and per-player results are in the project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611880"/>
            <a:ext cx="10698480" cy="128016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Coors-aware Marcel projections  ·  Data: Retrosheet 2012–2025, Fox Sports 2026</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rPr>
              <a:t>Projecting Hitters at Altitude</a:t>
            </a:r>
            <a:endParaRPr lang="en-US" sz="4800" dirty="0"/>
          </a:p>
        </p:txBody>
      </p:sp>
      <p:sp>
        <p:nvSpPr>
          <p:cNvPr id="3" name="Text 0"/>
          <p:cNvSpPr/>
          <p:nvPr>
            <p:ph idx="101" type="body" hasCustomPrompt="1"/>
          </p:nvPr>
        </p:nvSpPr>
        <p:spPr>
          <a:xfrm>
            <a:off x="731520" y="3611880"/>
            <a:ext cx="10698480" cy="1280160"/>
          </a:xfrm>
          <a:prstGeom prst="rect">
            <a:avLst/>
          </a:prstGeom>
          <a:noFill/>
          <a:ln/>
        </p:spPr>
        <p:txBody>
          <a:bodyPr wrap="square" lIns="0" tIns="0" rIns="0" bIns="0" rtlCol="0" anchor="t"/>
          <a:lstStyle/>
          <a:p>
            <a:pPr indent="0" marL="0">
              <a:buNone/>
            </a:pPr>
            <a:r>
              <a:rPr lang="en-US" sz="2000" dirty="0">
                <a:solidFill>
                  <a:schemeClr val="accent3"/>
                </a:solidFill>
              </a:rPr>
              <a:t>A Coors-aware Marcel projection system, backtested on 2021–2025 and checked against the 2026 season</a:t>
            </a:r>
            <a:endParaRPr lang="en-US" sz="2000" dirty="0"/>
          </a:p>
          <a:p>
            <a:pPr indent="0" marL="0">
              <a:buNone/>
            </a:pPr>
            <a:r>
              <a:rPr lang="en-US" sz="2000" dirty="0">
                <a:solidFill>
                  <a:schemeClr val="accent3"/>
                </a:solidFill>
              </a:rPr>
              <a:t>Dan Tunningley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Park adjustment fixes newcomers; returning Rockies are the open problem</a:t>
            </a:r>
            <a:endParaRPr lang="en-US" sz="3200" dirty="0"/>
          </a:p>
        </p:txBody>
      </p:sp>
      <p:sp>
        <p:nvSpPr>
          <p:cNvPr id="3" name="stat-card-1"/>
          <p:cNvSpPr/>
          <p:nvPr/>
        </p:nvSpPr>
        <p:spPr>
          <a:xfrm>
            <a:off x="548640" y="1600200"/>
            <a:ext cx="3474720" cy="3291840"/>
          </a:xfrm>
          <a:prstGeom prst="roundRect">
            <a:avLst>
              <a:gd name="adj" fmla="val 3333"/>
            </a:avLst>
          </a:prstGeom>
          <a:solidFill>
            <a:schemeClr val="bg2"/>
          </a:solidFill>
          <a:ln w="12700">
            <a:solidFill>
              <a:schemeClr val="bg2"/>
            </a:solidFill>
            <a:prstDash val="solid"/>
          </a:ln>
        </p:spPr>
      </p:sp>
      <p:sp>
        <p:nvSpPr>
          <p:cNvPr id="4" name="stat-number-1"/>
          <p:cNvSpPr txBox="1"/>
          <p:nvPr/>
        </p:nvSpPr>
        <p:spPr>
          <a:xfrm>
            <a:off x="868680" y="1874520"/>
            <a:ext cx="2834640" cy="118872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15 → 0</a:t>
            </a:r>
            <a:endParaRPr lang="en-US" sz="6000" dirty="0"/>
          </a:p>
        </p:txBody>
      </p:sp>
      <p:sp>
        <p:nvSpPr>
          <p:cNvPr id="5" name="stat-label-1"/>
          <p:cNvSpPr txBox="1"/>
          <p:nvPr/>
        </p:nvSpPr>
        <p:spPr>
          <a:xfrm>
            <a:off x="868680" y="3200400"/>
            <a:ext cx="2834640" cy="1463040"/>
          </a:xfrm>
          <a:prstGeom prst="rect">
            <a:avLst/>
          </a:prstGeom>
          <a:noFill/>
          <a:ln/>
        </p:spPr>
        <p:txBody>
          <a:bodyPr wrap="square" lIns="0" tIns="0" rIns="0" bIns="0" rtlCol="0" anchor="t"/>
          <a:lstStyle/>
          <a:p>
            <a:pPr indent="0" marL="0">
              <a:buNone/>
            </a:pPr>
            <a:r>
              <a:rPr lang="en-US" sz="1600" dirty="0">
                <a:solidFill>
                  <a:schemeClr val="tx1"/>
                </a:solidFill>
              </a:rPr>
              <a:t>points of wOBA: bias on hitters joining the Rockies, plain Marcel vs park-adjusted (2021–25 backtest)</a:t>
            </a:r>
            <a:endParaRPr lang="en-US" sz="1600" dirty="0"/>
          </a:p>
        </p:txBody>
      </p:sp>
      <p:sp>
        <p:nvSpPr>
          <p:cNvPr id="6" name="stat-card-2"/>
          <p:cNvSpPr/>
          <p:nvPr/>
        </p:nvSpPr>
        <p:spPr>
          <a:xfrm>
            <a:off x="4297680" y="1600200"/>
            <a:ext cx="3474720" cy="3291840"/>
          </a:xfrm>
          <a:prstGeom prst="roundRect">
            <a:avLst>
              <a:gd name="adj" fmla="val 3333"/>
            </a:avLst>
          </a:prstGeom>
          <a:solidFill>
            <a:schemeClr val="bg2"/>
          </a:solidFill>
          <a:ln w="12700">
            <a:solidFill>
              <a:schemeClr val="bg2"/>
            </a:solidFill>
            <a:prstDash val="solid"/>
          </a:ln>
        </p:spPr>
      </p:sp>
      <p:sp>
        <p:nvSpPr>
          <p:cNvPr id="7" name="stat-number-2"/>
          <p:cNvSpPr txBox="1"/>
          <p:nvPr/>
        </p:nvSpPr>
        <p:spPr>
          <a:xfrm>
            <a:off x="4617720" y="1874520"/>
            <a:ext cx="2834640" cy="1188720"/>
          </a:xfrm>
          <a:prstGeom prst="rect">
            <a:avLst/>
          </a:prstGeom>
          <a:noFill/>
          <a:ln/>
        </p:spPr>
        <p:txBody>
          <a:bodyPr wrap="square" lIns="0" tIns="0" rIns="0" bIns="0" rtlCol="0" anchor="ctr"/>
          <a:lstStyle/>
          <a:p>
            <a:pPr indent="0" marL="0">
              <a:buNone/>
            </a:pPr>
            <a:r>
              <a:rPr lang="en-US" sz="6000" b="1" dirty="0">
                <a:solidFill>
                  <a:schemeClr val="accent5"/>
                </a:solidFill>
                <a:latin typeface="Cambria" pitchFamily="34" charset="0"/>
                <a:ea typeface="Cambria" pitchFamily="34" charset="-122"/>
                <a:cs typeface="Cambria" pitchFamily="34" charset="-120"/>
              </a:rPr>
              <a:t>2.46M</a:t>
            </a:r>
            <a:endParaRPr lang="en-US" sz="6000" dirty="0"/>
          </a:p>
        </p:txBody>
      </p:sp>
      <p:sp>
        <p:nvSpPr>
          <p:cNvPr id="8" name="stat-label-2"/>
          <p:cNvSpPr txBox="1"/>
          <p:nvPr/>
        </p:nvSpPr>
        <p:spPr>
          <a:xfrm>
            <a:off x="4617720" y="3200400"/>
            <a:ext cx="2834640" cy="1463040"/>
          </a:xfrm>
          <a:prstGeom prst="rect">
            <a:avLst/>
          </a:prstGeom>
          <a:noFill/>
          <a:ln/>
        </p:spPr>
        <p:txBody>
          <a:bodyPr wrap="square" lIns="0" tIns="0" rIns="0" bIns="0" rtlCol="0" anchor="t"/>
          <a:lstStyle/>
          <a:p>
            <a:pPr indent="0" marL="0">
              <a:buNone/>
            </a:pPr>
            <a:r>
              <a:rPr lang="en-US" sz="1600" dirty="0">
                <a:solidFill>
                  <a:schemeClr val="tx1"/>
                </a:solidFill>
              </a:rPr>
              <a:t>plate appearances behind the model: every regular-season MLB game, 2012–2025</a:t>
            </a:r>
            <a:endParaRPr lang="en-US" sz="1600" dirty="0"/>
          </a:p>
        </p:txBody>
      </p:sp>
      <p:sp>
        <p:nvSpPr>
          <p:cNvPr id="9" name="stat-card-3"/>
          <p:cNvSpPr/>
          <p:nvPr/>
        </p:nvSpPr>
        <p:spPr>
          <a:xfrm>
            <a:off x="8046720" y="1600200"/>
            <a:ext cx="3474720" cy="3291840"/>
          </a:xfrm>
          <a:prstGeom prst="roundRect">
            <a:avLst>
              <a:gd name="adj" fmla="val 3333"/>
            </a:avLst>
          </a:prstGeom>
          <a:solidFill>
            <a:schemeClr val="bg2"/>
          </a:solidFill>
          <a:ln w="12700">
            <a:solidFill>
              <a:schemeClr val="bg2"/>
            </a:solidFill>
            <a:prstDash val="solid"/>
          </a:ln>
        </p:spPr>
      </p:sp>
      <p:sp>
        <p:nvSpPr>
          <p:cNvPr id="10" name="stat-number-3"/>
          <p:cNvSpPr txBox="1"/>
          <p:nvPr/>
        </p:nvSpPr>
        <p:spPr>
          <a:xfrm>
            <a:off x="8366760" y="1874520"/>
            <a:ext cx="2834640" cy="1188720"/>
          </a:xfrm>
          <a:prstGeom prst="rect">
            <a:avLst/>
          </a:prstGeom>
          <a:noFill/>
          <a:ln/>
        </p:spPr>
        <p:txBody>
          <a:bodyPr wrap="square" lIns="0" tIns="0" rIns="0" bIns="0" rtlCol="0" anchor="ctr"/>
          <a:lstStyle/>
          <a:p>
            <a:pPr indent="0" marL="0">
              <a:buNone/>
            </a:pPr>
            <a:r>
              <a:rPr lang="en-US" sz="6000" b="1" dirty="0">
                <a:solidFill>
                  <a:schemeClr val="accent4"/>
                </a:solidFill>
                <a:latin typeface="Cambria" pitchFamily="34" charset="0"/>
                <a:ea typeface="Cambria" pitchFamily="34" charset="-122"/>
                <a:cs typeface="Cambria" pitchFamily="34" charset="-120"/>
              </a:rPr>
              <a:t>−17</a:t>
            </a:r>
            <a:endParaRPr lang="en-US" sz="6000" dirty="0"/>
          </a:p>
        </p:txBody>
      </p:sp>
      <p:sp>
        <p:nvSpPr>
          <p:cNvPr id="11" name="stat-label-3"/>
          <p:cNvSpPr txBox="1"/>
          <p:nvPr/>
        </p:nvSpPr>
        <p:spPr>
          <a:xfrm>
            <a:off x="8366760" y="3200400"/>
            <a:ext cx="2834640" cy="1463040"/>
          </a:xfrm>
          <a:prstGeom prst="rect">
            <a:avLst/>
          </a:prstGeom>
          <a:noFill/>
          <a:ln/>
        </p:spPr>
        <p:txBody>
          <a:bodyPr wrap="square" lIns="0" tIns="0" rIns="0" bIns="0" rtlCol="0" anchor="t"/>
          <a:lstStyle/>
          <a:p>
            <a:pPr indent="0" marL="0">
              <a:buNone/>
            </a:pPr>
            <a:r>
              <a:rPr lang="en-US" sz="1600" dirty="0">
                <a:solidFill>
                  <a:schemeClr val="tx1"/>
                </a:solidFill>
              </a:rPr>
              <a:t>points: how far the park-adjusted model overrated returning Rockies hitters in 2026</a:t>
            </a:r>
            <a:endParaRPr lang="en-US" sz="1600" dirty="0"/>
          </a:p>
        </p:txBody>
      </p:sp>
      <p:sp>
        <p:nvSpPr>
          <p:cNvPr id="12" name="stat-footnote"/>
          <p:cNvSpPr txBox="1"/>
          <p:nvPr/>
        </p:nvSpPr>
        <p:spPr>
          <a:xfrm>
            <a:off x="548640" y="5212080"/>
            <a:ext cx="11064240" cy="457200"/>
          </a:xfrm>
          <a:prstGeom prst="rect">
            <a:avLst/>
          </a:prstGeom>
          <a:noFill/>
          <a:ln/>
        </p:spPr>
        <p:txBody>
          <a:bodyPr wrap="square" lIns="0" tIns="0" rIns="0" bIns="0" rtlCol="0" anchor="ctr"/>
          <a:lstStyle/>
          <a:p>
            <a:pPr indent="0" marL="0">
              <a:buNone/>
            </a:pPr>
            <a:r>
              <a:rPr lang="en-US" sz="1500" i="1" dirty="0">
                <a:solidFill>
                  <a:schemeClr val="accent5"/>
                </a:solidFill>
              </a:rPr>
              <a:t>1 point = .001 wOBA. The same pattern showed up in the 2021–2025 backtest and again in the 2026 season.</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Three versions, each adding one layer to the last</a:t>
            </a:r>
            <a:endParaRPr lang="en-US" sz="3200" dirty="0"/>
          </a:p>
        </p:txBody>
      </p:sp>
      <p:sp>
        <p:nvSpPr>
          <p:cNvPr id="3" name="step-card-1"/>
          <p:cNvSpPr/>
          <p:nvPr/>
        </p:nvSpPr>
        <p:spPr>
          <a:xfrm>
            <a:off x="548640" y="1600200"/>
            <a:ext cx="3383280" cy="3017520"/>
          </a:xfrm>
          <a:prstGeom prst="roundRect">
            <a:avLst>
              <a:gd name="adj" fmla="val 3636"/>
            </a:avLst>
          </a:prstGeom>
          <a:solidFill>
            <a:schemeClr val="bg2"/>
          </a:solidFill>
          <a:ln w="12700">
            <a:solidFill>
              <a:schemeClr val="bg2"/>
            </a:solidFill>
            <a:prstDash val="solid"/>
          </a:ln>
        </p:spPr>
      </p:sp>
      <p:sp>
        <p:nvSpPr>
          <p:cNvPr id="4" name="step-dot-1"/>
          <p:cNvSpPr/>
          <p:nvPr/>
        </p:nvSpPr>
        <p:spPr>
          <a:xfrm>
            <a:off x="868680" y="1874520"/>
            <a:ext cx="640080" cy="640080"/>
          </a:xfrm>
          <a:prstGeom prst="ellipse">
            <a:avLst/>
          </a:prstGeom>
          <a:solidFill>
            <a:schemeClr val="accent2"/>
          </a:solidFill>
          <a:ln w="12700">
            <a:solidFill>
              <a:schemeClr val="accent2"/>
            </a:solidFill>
            <a:prstDash val="solid"/>
          </a:ln>
        </p:spPr>
      </p:sp>
      <p:sp>
        <p:nvSpPr>
          <p:cNvPr id="5" name="step-num-1"/>
          <p:cNvSpPr txBox="1"/>
          <p:nvPr/>
        </p:nvSpPr>
        <p:spPr>
          <a:xfrm>
            <a:off x="868680" y="187452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6" name="step-name-1"/>
          <p:cNvSpPr txBox="1"/>
          <p:nvPr/>
        </p:nvSpPr>
        <p:spPr>
          <a:xfrm>
            <a:off x="868680" y="2697480"/>
            <a:ext cx="2834640" cy="457200"/>
          </a:xfrm>
          <a:prstGeom prst="rect">
            <a:avLst/>
          </a:prstGeom>
          <a:noFill/>
          <a:ln/>
        </p:spPr>
        <p:txBody>
          <a:bodyPr wrap="square" lIns="0" tIns="0" rIns="0" bIns="0" rtlCol="0" anchor="ctr"/>
          <a:lstStyle/>
          <a:p>
            <a:pPr indent="0" marL="0">
              <a:buNone/>
            </a:pPr>
            <a:r>
              <a:rPr lang="en-US" sz="2000" b="1" dirty="0">
                <a:solidFill>
                  <a:schemeClr val="tx2"/>
                </a:solidFill>
              </a:rPr>
              <a:t>Plain Marcel</a:t>
            </a:r>
            <a:endParaRPr lang="en-US" sz="2000" dirty="0"/>
          </a:p>
        </p:txBody>
      </p:sp>
      <p:sp>
        <p:nvSpPr>
          <p:cNvPr id="7" name="step-desc-1"/>
          <p:cNvSpPr txBox="1"/>
          <p:nvPr/>
        </p:nvSpPr>
        <p:spPr>
          <a:xfrm>
            <a:off x="868680" y="3200400"/>
            <a:ext cx="2834640" cy="1325880"/>
          </a:xfrm>
          <a:prstGeom prst="rect">
            <a:avLst/>
          </a:prstGeom>
          <a:noFill/>
          <a:ln/>
        </p:spPr>
        <p:txBody>
          <a:bodyPr wrap="square" lIns="0" tIns="0" rIns="0" bIns="0" rtlCol="0" anchor="t"/>
          <a:lstStyle/>
          <a:p>
            <a:pPr indent="0" marL="0">
              <a:buNone/>
            </a:pPr>
            <a:r>
              <a:rPr lang="en-US" sz="1500" dirty="0">
                <a:solidFill>
                  <a:schemeClr val="tx1"/>
                </a:solidFill>
              </a:rPr>
              <a:t>Tom Tango's baseline: last three seasons weighted 5/4/3, regressed toward league average, adjusted for age. No park handling.</a:t>
            </a:r>
            <a:endParaRPr lang="en-US" sz="1500" dirty="0"/>
          </a:p>
        </p:txBody>
      </p:sp>
      <p:sp>
        <p:nvSpPr>
          <p:cNvPr id="8" name="step-arrow-1"/>
          <p:cNvSpPr txBox="1"/>
          <p:nvPr/>
        </p:nvSpPr>
        <p:spPr>
          <a:xfrm>
            <a:off x="3931920" y="2788920"/>
            <a:ext cx="411480" cy="548640"/>
          </a:xfrm>
          <a:prstGeom prst="rect">
            <a:avLst/>
          </a:prstGeom>
          <a:noFill/>
          <a:ln/>
        </p:spPr>
        <p:txBody>
          <a:bodyPr wrap="square" lIns="0" tIns="0" rIns="0" bIns="0" rtlCol="0" anchor="ctr"/>
          <a:lstStyle/>
          <a:p>
            <a:pPr algn="ctr" indent="0" marL="0">
              <a:buNone/>
            </a:pPr>
            <a:r>
              <a:rPr lang="en-US" sz="2600" dirty="0">
                <a:solidFill>
                  <a:schemeClr val="accent5"/>
                </a:solidFill>
              </a:rPr>
              <a:t>→</a:t>
            </a:r>
            <a:endParaRPr lang="en-US" sz="2600" dirty="0"/>
          </a:p>
        </p:txBody>
      </p:sp>
      <p:sp>
        <p:nvSpPr>
          <p:cNvPr id="9" name="step-card-2"/>
          <p:cNvSpPr/>
          <p:nvPr/>
        </p:nvSpPr>
        <p:spPr>
          <a:xfrm>
            <a:off x="4343400" y="1600200"/>
            <a:ext cx="3383280" cy="3017520"/>
          </a:xfrm>
          <a:prstGeom prst="roundRect">
            <a:avLst>
              <a:gd name="adj" fmla="val 3636"/>
            </a:avLst>
          </a:prstGeom>
          <a:solidFill>
            <a:schemeClr val="bg2"/>
          </a:solidFill>
          <a:ln w="12700">
            <a:solidFill>
              <a:schemeClr val="bg2"/>
            </a:solidFill>
            <a:prstDash val="solid"/>
          </a:ln>
        </p:spPr>
      </p:sp>
      <p:sp>
        <p:nvSpPr>
          <p:cNvPr id="10" name="step-dot-2"/>
          <p:cNvSpPr/>
          <p:nvPr/>
        </p:nvSpPr>
        <p:spPr>
          <a:xfrm>
            <a:off x="4663440" y="1874520"/>
            <a:ext cx="640080" cy="640080"/>
          </a:xfrm>
          <a:prstGeom prst="ellipse">
            <a:avLst/>
          </a:prstGeom>
          <a:solidFill>
            <a:schemeClr val="accent1"/>
          </a:solidFill>
          <a:ln w="12700">
            <a:solidFill>
              <a:schemeClr val="accent1"/>
            </a:solidFill>
            <a:prstDash val="solid"/>
          </a:ln>
        </p:spPr>
      </p:sp>
      <p:sp>
        <p:nvSpPr>
          <p:cNvPr id="11" name="step-num-2"/>
          <p:cNvSpPr txBox="1"/>
          <p:nvPr/>
        </p:nvSpPr>
        <p:spPr>
          <a:xfrm>
            <a:off x="4663440" y="18745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step-name-2"/>
          <p:cNvSpPr txBox="1"/>
          <p:nvPr/>
        </p:nvSpPr>
        <p:spPr>
          <a:xfrm>
            <a:off x="4663440" y="2697480"/>
            <a:ext cx="2834640" cy="457200"/>
          </a:xfrm>
          <a:prstGeom prst="rect">
            <a:avLst/>
          </a:prstGeom>
          <a:noFill/>
          <a:ln/>
        </p:spPr>
        <p:txBody>
          <a:bodyPr wrap="square" lIns="0" tIns="0" rIns="0" bIns="0" rtlCol="0" anchor="ctr"/>
          <a:lstStyle/>
          <a:p>
            <a:pPr indent="0" marL="0">
              <a:buNone/>
            </a:pPr>
            <a:r>
              <a:rPr lang="en-US" sz="2000" b="1" dirty="0">
                <a:solidFill>
                  <a:schemeClr val="tx2"/>
                </a:solidFill>
              </a:rPr>
              <a:t>Park-adjusted</a:t>
            </a:r>
            <a:endParaRPr lang="en-US" sz="2000" dirty="0"/>
          </a:p>
        </p:txBody>
      </p:sp>
      <p:sp>
        <p:nvSpPr>
          <p:cNvPr id="13" name="step-desc-2"/>
          <p:cNvSpPr txBox="1"/>
          <p:nvPr/>
        </p:nvSpPr>
        <p:spPr>
          <a:xfrm>
            <a:off x="4663440" y="3200400"/>
            <a:ext cx="2834640" cy="1325880"/>
          </a:xfrm>
          <a:prstGeom prst="rect">
            <a:avLst/>
          </a:prstGeom>
          <a:noFill/>
          <a:ln/>
        </p:spPr>
        <p:txBody>
          <a:bodyPr wrap="square" lIns="0" tIns="0" rIns="0" bIns="0" rtlCol="0" anchor="t"/>
          <a:lstStyle/>
          <a:p>
            <a:pPr indent="0" marL="0">
              <a:buNone/>
            </a:pPr>
            <a:r>
              <a:rPr lang="en-US" sz="1500" dirty="0">
                <a:solidFill>
                  <a:schemeClr val="tx1"/>
                </a:solidFill>
              </a:rPr>
              <a:t>Neutralizes each past plate appearance by its park's factor for each outcome, projects in a neutral park, then places it back in the parks ahead.</a:t>
            </a:r>
            <a:endParaRPr lang="en-US" sz="1500" dirty="0"/>
          </a:p>
        </p:txBody>
      </p:sp>
      <p:sp>
        <p:nvSpPr>
          <p:cNvPr id="14" name="step-arrow-2"/>
          <p:cNvSpPr txBox="1"/>
          <p:nvPr/>
        </p:nvSpPr>
        <p:spPr>
          <a:xfrm>
            <a:off x="7726680" y="2788920"/>
            <a:ext cx="411480" cy="548640"/>
          </a:xfrm>
          <a:prstGeom prst="rect">
            <a:avLst/>
          </a:prstGeom>
          <a:noFill/>
          <a:ln/>
        </p:spPr>
        <p:txBody>
          <a:bodyPr wrap="square" lIns="0" tIns="0" rIns="0" bIns="0" rtlCol="0" anchor="ctr"/>
          <a:lstStyle/>
          <a:p>
            <a:pPr algn="ctr" indent="0" marL="0">
              <a:buNone/>
            </a:pPr>
            <a:r>
              <a:rPr lang="en-US" sz="2600" dirty="0">
                <a:solidFill>
                  <a:schemeClr val="accent5"/>
                </a:solidFill>
              </a:rPr>
              <a:t>→</a:t>
            </a:r>
            <a:endParaRPr lang="en-US" sz="2600" dirty="0"/>
          </a:p>
        </p:txBody>
      </p:sp>
      <p:sp>
        <p:nvSpPr>
          <p:cNvPr id="15" name="step-card-3"/>
          <p:cNvSpPr/>
          <p:nvPr/>
        </p:nvSpPr>
        <p:spPr>
          <a:xfrm>
            <a:off x="8138160" y="1600200"/>
            <a:ext cx="3383280" cy="3017520"/>
          </a:xfrm>
          <a:prstGeom prst="roundRect">
            <a:avLst>
              <a:gd name="adj" fmla="val 3636"/>
            </a:avLst>
          </a:prstGeom>
          <a:solidFill>
            <a:schemeClr val="bg2"/>
          </a:solidFill>
          <a:ln w="12700">
            <a:solidFill>
              <a:schemeClr val="bg2"/>
            </a:solidFill>
            <a:prstDash val="solid"/>
          </a:ln>
        </p:spPr>
      </p:sp>
      <p:sp>
        <p:nvSpPr>
          <p:cNvPr id="16" name="step-dot-3"/>
          <p:cNvSpPr/>
          <p:nvPr/>
        </p:nvSpPr>
        <p:spPr>
          <a:xfrm>
            <a:off x="8458200" y="1874520"/>
            <a:ext cx="640080" cy="640080"/>
          </a:xfrm>
          <a:prstGeom prst="ellipse">
            <a:avLst/>
          </a:prstGeom>
          <a:solidFill>
            <a:schemeClr val="accent3"/>
          </a:solidFill>
          <a:ln w="12700">
            <a:solidFill>
              <a:schemeClr val="accent3"/>
            </a:solidFill>
            <a:prstDash val="solid"/>
          </a:ln>
        </p:spPr>
      </p:sp>
      <p:sp>
        <p:nvSpPr>
          <p:cNvPr id="17" name="step-num-3"/>
          <p:cNvSpPr txBox="1"/>
          <p:nvPr/>
        </p:nvSpPr>
        <p:spPr>
          <a:xfrm>
            <a:off x="8458200" y="187452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8" name="step-name-3"/>
          <p:cNvSpPr txBox="1"/>
          <p:nvPr/>
        </p:nvSpPr>
        <p:spPr>
          <a:xfrm>
            <a:off x="8458200" y="2697480"/>
            <a:ext cx="2834640" cy="457200"/>
          </a:xfrm>
          <a:prstGeom prst="rect">
            <a:avLst/>
          </a:prstGeom>
          <a:noFill/>
          <a:ln/>
        </p:spPr>
        <p:txBody>
          <a:bodyPr wrap="square" lIns="0" tIns="0" rIns="0" bIns="0" rtlCol="0" anchor="ctr"/>
          <a:lstStyle/>
          <a:p>
            <a:pPr indent="0" marL="0">
              <a:buNone/>
            </a:pPr>
            <a:r>
              <a:rPr lang="en-US" sz="2000" b="1" dirty="0">
                <a:solidFill>
                  <a:schemeClr val="tx2"/>
                </a:solidFill>
              </a:rPr>
              <a:t>Park + Rockies multipliers</a:t>
            </a:r>
            <a:endParaRPr lang="en-US" sz="2000" dirty="0"/>
          </a:p>
        </p:txBody>
      </p:sp>
      <p:sp>
        <p:nvSpPr>
          <p:cNvPr id="19" name="step-desc-3"/>
          <p:cNvSpPr txBox="1"/>
          <p:nvPr/>
        </p:nvSpPr>
        <p:spPr>
          <a:xfrm>
            <a:off x="8458200" y="3200400"/>
            <a:ext cx="2834640" cy="1325880"/>
          </a:xfrm>
          <a:prstGeom prst="rect">
            <a:avLst/>
          </a:prstGeom>
          <a:noFill/>
          <a:ln/>
        </p:spPr>
        <p:txBody>
          <a:bodyPr wrap="square" lIns="0" tIns="0" rIns="0" bIns="0" rtlCol="0" anchor="t"/>
          <a:lstStyle/>
          <a:p>
            <a:pPr indent="0" marL="0">
              <a:buNone/>
            </a:pPr>
            <a:r>
              <a:rPr lang="en-US" sz="1500" dirty="0">
                <a:solidFill>
                  <a:schemeClr val="tx1"/>
                </a:solidFill>
              </a:rPr>
              <a:t>Adds Rockies-specific home and road corrections learned from training-season errors: the altitude edge and the "Coors hangover".</a:t>
            </a:r>
            <a:endParaRPr lang="en-US" sz="1500" dirty="0"/>
          </a:p>
        </p:txBody>
      </p:sp>
      <p:sp>
        <p:nvSpPr>
          <p:cNvPr id="20" name="method-note"/>
          <p:cNvSpPr txBox="1"/>
          <p:nvPr/>
        </p:nvSpPr>
        <p:spPr>
          <a:xfrm>
            <a:off x="548640" y="4983480"/>
            <a:ext cx="11064240" cy="731520"/>
          </a:xfrm>
          <a:prstGeom prst="rect">
            <a:avLst/>
          </a:prstGeom>
          <a:noFill/>
          <a:ln/>
        </p:spPr>
        <p:txBody>
          <a:bodyPr wrap="square" lIns="0" tIns="0" rIns="0" bIns="0" rtlCol="0" anchor="t"/>
          <a:lstStyle/>
          <a:p>
            <a:pPr indent="0" marL="0">
              <a:buNone/>
            </a:pPr>
            <a:r>
              <a:rPr lang="en-US" sz="1600" b="1" dirty="0">
                <a:solidFill>
                  <a:schemeClr val="tx1"/>
                </a:solidFill>
              </a:rPr>
              <a:t>Tested fairly: </a:t>
            </a:r>
            <a:pPr indent="0" marL="0">
              <a:buNone/>
            </a:pPr>
            <a:r>
              <a:rPr lang="en-US" sz="1600" dirty="0">
                <a:solidFill>
                  <a:schemeClr val="tx1"/>
                </a:solidFill>
              </a:rPr>
              <a:t>tuned on 2015–2019, scored on 2021–2025 seasons it never saw, then checked against actual 2026 results. Every number for a season uses only earlier seasons.</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Coors inflates triples, singles and doubles far more than home runs</a:t>
            </a:r>
            <a:endParaRPr lang="en-US" sz="3200" dirty="0"/>
          </a:p>
        </p:txBody>
      </p:sp>
      <p:graphicFrame>
        <p:nvGraphicFramePr>
          <p:cNvPr id="3" name="coors-factor-chart" descr=""/>
          <p:cNvGraphicFramePr/>
          <p:nvPr/>
        </p:nvGraphicFramePr>
        <p:xfrm>
          <a:off x="548640" y="146304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4" name="coors-commentary"/>
          <p:cNvSpPr txBox="1"/>
          <p:nvPr/>
        </p:nvSpPr>
        <p:spPr>
          <a:xfrm>
            <a:off x="7955280" y="1737360"/>
            <a:ext cx="3657600" cy="4206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Triples up 72%, singles 13%, doubles 14%</a:t>
            </a:r>
            <a:endParaRPr lang="en-US" sz="1600" dirty="0"/>
          </a:p>
          <a:p>
            <a:pPr indent="0" marL="0">
              <a:spcAft>
                <a:spcPts val="200"/>
              </a:spcAft>
              <a:buNone/>
            </a:pPr>
            <a:r>
              <a:rPr lang="en-US" sz="1600" dirty="0">
                <a:solidFill>
                  <a:schemeClr val="tx1"/>
                </a:solidFill>
              </a:rPr>
              <a:t>The big outfield and thin air reward balls in play.</a:t>
            </a:r>
            <a:endParaRPr lang="en-US" sz="1600" dirty="0"/>
          </a:p>
          <a:p>
            <a:pPr indent="0" marL="0">
              <a:spcAft>
                <a:spcPts val="200"/>
              </a:spcAft>
              <a:buNone/>
            </a:pPr>
            <a:r>
              <a:rPr lang="en-US" sz="800" dirty="0">
                <a:solidFill>
                  <a:schemeClr val="tx1"/>
                </a:solidFill>
              </a:rPr>
              <a:t> </a:t>
            </a:r>
            <a:endParaRPr lang="en-US" sz="1600" dirty="0"/>
          </a:p>
          <a:p>
            <a:pPr indent="0" marL="0">
              <a:spcAft>
                <a:spcPts val="200"/>
              </a:spcAft>
              <a:buNone/>
            </a:pPr>
            <a:r>
              <a:rPr lang="en-US" sz="1600" b="1" dirty="0">
                <a:solidFill>
                  <a:schemeClr val="tx1"/>
                </a:solidFill>
              </a:rPr>
              <a:t>Home runs up only 2%</a:t>
            </a:r>
            <a:endParaRPr lang="en-US" sz="1600" dirty="0"/>
          </a:p>
          <a:p>
            <a:pPr indent="0" marL="0">
              <a:spcAft>
                <a:spcPts val="200"/>
              </a:spcAft>
              <a:buNone/>
            </a:pPr>
            <a:r>
              <a:rPr lang="en-US" sz="1600" dirty="0">
                <a:solidFill>
                  <a:schemeClr val="tx1"/>
                </a:solidFill>
              </a:rPr>
              <a:t>Since the humidor, Coors is not mainly a home-run park.</a:t>
            </a:r>
            <a:endParaRPr lang="en-US" sz="1600" dirty="0"/>
          </a:p>
          <a:p>
            <a:pPr indent="0" marL="0">
              <a:spcAft>
                <a:spcPts val="200"/>
              </a:spcAft>
              <a:buNone/>
            </a:pPr>
            <a:r>
              <a:rPr lang="en-US" sz="800" dirty="0">
                <a:solidFill>
                  <a:schemeClr val="tx1"/>
                </a:solidFill>
              </a:rPr>
              <a:t> </a:t>
            </a:r>
            <a:endParaRPr lang="en-US" sz="1600" dirty="0"/>
          </a:p>
          <a:p>
            <a:pPr indent="0" marL="0">
              <a:spcAft>
                <a:spcPts val="200"/>
              </a:spcAft>
              <a:buNone/>
            </a:pPr>
            <a:r>
              <a:rPr lang="en-US" sz="1600" b="1" dirty="0">
                <a:solidFill>
                  <a:schemeClr val="tx1"/>
                </a:solidFill>
              </a:rPr>
              <a:t>Why it matters</a:t>
            </a:r>
            <a:endParaRPr lang="en-US" sz="1600" dirty="0"/>
          </a:p>
          <a:p>
            <a:pPr indent="0" marL="0">
              <a:spcAft>
                <a:spcPts val="200"/>
              </a:spcAft>
              <a:buNone/>
            </a:pPr>
            <a:r>
              <a:rPr lang="en-US" sz="1600" dirty="0">
                <a:solidFill>
                  <a:schemeClr val="tx1"/>
                </a:solidFill>
              </a:rPr>
              <a:t>One overall park factor hides this, so the model adjusts each outcome separately.</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In the backtest, park adjustment removed the bias on hitters who changed teams</a:t>
            </a:r>
            <a:endParaRPr lang="en-US" sz="3200" dirty="0"/>
          </a:p>
        </p:txBody>
      </p:sp>
      <p:graphicFrame>
        <p:nvGraphicFramePr>
          <p:cNvPr id="3" name="backtest-bias-chart" descr=""/>
          <p:cNvGraphicFramePr/>
          <p:nvPr/>
        </p:nvGraphicFramePr>
        <p:xfrm>
          <a:off x="548640" y="1417320"/>
          <a:ext cx="7680960" cy="4754880"/>
        </p:xfrm>
        <a:graphic xmlns:a="http://schemas.openxmlformats.org/drawingml/2006/main">
          <a:graphicData uri="http://schemas.openxmlformats.org/drawingml/2006/chart">
            <c:chart xmlns:c="http://schemas.openxmlformats.org/drawingml/2006/chart" r:id="rId1"/>
          </a:graphicData>
        </a:graphic>
      </p:graphicFrame>
      <p:sp>
        <p:nvSpPr>
          <p:cNvPr id="4" name="backtest-commentary"/>
          <p:cNvSpPr txBox="1"/>
          <p:nvPr/>
        </p:nvSpPr>
        <p:spPr>
          <a:xfrm>
            <a:off x="8595360" y="1645920"/>
            <a:ext cx="3017520" cy="4389120"/>
          </a:xfrm>
          <a:prstGeom prst="rect">
            <a:avLst/>
          </a:prstGeom>
          <a:noFill/>
          <a:ln/>
        </p:spPr>
        <p:txBody>
          <a:bodyPr wrap="square" lIns="0" tIns="0" rIns="0" bIns="0" rtlCol="0" anchor="t"/>
          <a:lstStyle/>
          <a:p>
            <a:pPr indent="0" marL="0">
              <a:buNone/>
            </a:pPr>
            <a:r>
              <a:rPr lang="en-US" sz="1500" b="1" dirty="0">
                <a:solidFill>
                  <a:schemeClr val="tx1"/>
                </a:solidFill>
              </a:rPr>
              <a:t>Newcomers: +15 → +0.5</a:t>
            </a:r>
            <a:endParaRPr lang="en-US" sz="1500" dirty="0"/>
          </a:p>
          <a:p>
            <a:pPr indent="0" marL="0">
              <a:buNone/>
            </a:pPr>
            <a:r>
              <a:rPr lang="en-US" sz="1500" dirty="0">
                <a:solidFill>
                  <a:schemeClr val="tx1"/>
                </a:solidFill>
              </a:rPr>
              <a:t>Plain Marcel underrated hitters moving to Denver and overrated those leaving.</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accent4"/>
                </a:solidFill>
              </a:rPr>
              <a:t>Holdovers got worse</a:t>
            </a:r>
            <a:endParaRPr lang="en-US" sz="1500" dirty="0"/>
          </a:p>
          <a:p>
            <a:pPr indent="0" marL="0">
              <a:buNone/>
            </a:pPr>
            <a:r>
              <a:rPr lang="en-US" sz="1500" dirty="0">
                <a:solidFill>
                  <a:schemeClr val="tx1"/>
                </a:solidFill>
              </a:rPr>
              <a:t>The park-adjusted model overrated Rockies who stayed by about 10 points.</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Most error is luck</a:t>
            </a:r>
            <a:endParaRPr lang="en-US" sz="1500" dirty="0"/>
          </a:p>
          <a:p>
            <a:pPr indent="0" marL="0">
              <a:buNone/>
            </a:pPr>
            <a:r>
              <a:rPr lang="en-US" sz="1500" dirty="0">
                <a:solidFill>
                  <a:schemeClr val="tx1"/>
                </a:solidFill>
              </a:rPr>
              <a:t>All versions miss by ~.032 wOBA; luck alone would cause ~.024.</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2026 repeated the backtest: newcomers right, holdovers overrated</a:t>
            </a:r>
            <a:endParaRPr lang="en-US" sz="3200" dirty="0"/>
          </a:p>
        </p:txBody>
      </p:sp>
      <p:graphicFrame>
        <p:nvGraphicFramePr>
          <p:cNvPr id="3" name="bias-2026-chart" descr=""/>
          <p:cNvGraphicFramePr/>
          <p:nvPr/>
        </p:nvGraphicFramePr>
        <p:xfrm>
          <a:off x="548640" y="141732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bias-2026-commentary"/>
          <p:cNvSpPr txBox="1"/>
          <p:nvPr/>
        </p:nvSpPr>
        <p:spPr>
          <a:xfrm>
            <a:off x="7772400" y="1645920"/>
            <a:ext cx="3840480" cy="4389120"/>
          </a:xfrm>
          <a:prstGeom prst="rect">
            <a:avLst/>
          </a:prstGeom>
          <a:noFill/>
          <a:ln/>
        </p:spPr>
        <p:txBody>
          <a:bodyPr wrap="square" lIns="0" tIns="0" rIns="0" bIns="0" rtlCol="0" anchor="t"/>
          <a:lstStyle/>
          <a:p>
            <a:pPr indent="0" marL="0">
              <a:buNone/>
            </a:pPr>
            <a:r>
              <a:rPr lang="en-US" sz="1500" b="1" dirty="0">
                <a:solidFill>
                  <a:schemeClr val="tx1"/>
                </a:solidFill>
              </a:rPr>
              <a:t>Newcomers: +0.5 points</a:t>
            </a:r>
            <a:endParaRPr lang="en-US" sz="1500" dirty="0"/>
          </a:p>
          <a:p>
            <a:pPr indent="0" marL="0">
              <a:buNone/>
            </a:pPr>
            <a:r>
              <a:rPr lang="en-US" sz="1500" dirty="0">
                <a:solidFill>
                  <a:schemeClr val="tx1"/>
                </a:solidFill>
              </a:rPr>
              <a:t>The park-adjusted miss matched the backtest exactly. Plain Marcel would have been 14 points low.</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accent4"/>
                </a:solidFill>
              </a:rPr>
              <a:t>Holdovers: −17 points</a:t>
            </a:r>
            <a:endParaRPr lang="en-US" sz="1500" dirty="0"/>
          </a:p>
          <a:p>
            <a:pPr indent="0" marL="0">
              <a:buNone/>
            </a:pPr>
            <a:r>
              <a:rPr lang="en-US" sz="1500" dirty="0">
                <a:solidFill>
                  <a:schemeClr val="tx1"/>
                </a:solidFill>
              </a:rPr>
              <a:t>Every version overrated returning Rockies, driven by young players who regressed.</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Small sample</a:t>
            </a:r>
            <a:endParaRPr lang="en-US" sz="1500" dirty="0"/>
          </a:p>
          <a:p>
            <a:pPr indent="0" marL="0">
              <a:buNone/>
            </a:pPr>
            <a:r>
              <a:rPr lang="en-US" sz="1500" dirty="0">
                <a:solidFill>
                  <a:schemeClr val="tx1"/>
                </a:solidFill>
              </a:rPr>
              <a:t>13 hitters; rookies Rumfield and Carrigg had no MLB history to project.</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rPr>
              <a:t>The biggest misses were young holdovers who got worse</a:t>
            </a:r>
            <a:endParaRPr lang="en-US" sz="3200" dirty="0"/>
          </a:p>
        </p:txBody>
      </p:sp>
      <p:sp>
        <p:nvSpPr>
          <p:cNvPr id="3" name="table-joined-label"/>
          <p:cNvSpPr txBox="1"/>
          <p:nvPr/>
        </p:nvSpPr>
        <p:spPr>
          <a:xfrm>
            <a:off x="548640" y="1417320"/>
            <a:ext cx="5349240" cy="411480"/>
          </a:xfrm>
          <a:prstGeom prst="rect">
            <a:avLst/>
          </a:prstGeom>
          <a:noFill/>
          <a:ln/>
        </p:spPr>
        <p:txBody>
          <a:bodyPr wrap="square" lIns="0" tIns="0" rIns="0" bIns="0" rtlCol="0" anchor="ctr"/>
          <a:lstStyle/>
          <a:p>
            <a:pPr indent="0" marL="0">
              <a:buNone/>
            </a:pPr>
            <a:r>
              <a:rPr lang="en-US" sz="1800" b="1" dirty="0">
                <a:solidFill>
                  <a:schemeClr val="tx2"/>
                </a:solidFill>
              </a:rPr>
              <a:t>Joined the Rockies</a:t>
            </a:r>
            <a:endParaRPr lang="en-US" sz="1800" dirty="0"/>
          </a:p>
        </p:txBody>
      </p:sp>
      <p:graphicFrame>
        <p:nvGraphicFramePr>
          <p:cNvPr id="8" name="table-joined"/>
          <p:cNvGraphicFramePr>
            <a:graphicFrameLocks noGrp="1"/>
          </p:cNvGraphicFramePr>
          <p:nvPr>
            <p:extLst>
              <p:ext uri="{D42A27DB-BD31-4B8C-83A1-F6EECF244321}">
                <p14:modId xmlns:p14="http://schemas.microsoft.com/office/powerpoint/2010/main" val="1579011935"/>
              </p:ext>
            </p:extLst>
          </p:nvPr>
        </p:nvGraphicFramePr>
        <p:xfrm>
          <a:off x="548640" y="1920240"/>
          <a:ext cx="5349240" cy="914400"/>
        </p:xfrm>
        <a:graphic>
          <a:graphicData uri="http://schemas.openxmlformats.org/drawingml/2006/table">
            <a:tbl>
              <a:tblPr/>
              <a:tblGrid>
                <a:gridCol w="2331720"/>
                <a:gridCol w="1005840"/>
                <a:gridCol w="1005840"/>
                <a:gridCol w="1005840"/>
              </a:tblGrid>
              <a:tr h="438912">
                <a:tc>
                  <a:txBody>
                    <a:bodyPr/>
                    <a:lstStyle/>
                    <a:p>
                      <a:pPr algn="l" indent="0" marL="0">
                        <a:buNone/>
                      </a:pPr>
                      <a:r>
                        <a:rPr lang="en-US" sz="1500" b="1" dirty="0">
                          <a:solidFill>
                            <a:schemeClr val="bg1"/>
                          </a:solidFill>
                        </a:rPr>
                        <a:t>Hitter</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Projected</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Actual</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Miss</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r>
              <a:tr h="438912">
                <a:tc>
                  <a:txBody>
                    <a:bodyPr/>
                    <a:lstStyle/>
                    <a:p>
                      <a:pPr indent="0" marL="0">
                        <a:buNone/>
                      </a:pPr>
                      <a:r>
                        <a:rPr lang="en-US" sz="1500" dirty="0">
                          <a:solidFill>
                            <a:schemeClr val="tx1"/>
                          </a:solidFill>
                        </a:rPr>
                        <a:t>Connor Norby</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.322</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.367</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+45</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Jake McCarthy</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.315</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.344</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+29</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Willi Castro</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.322</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.326</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+4</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Troy Johnston</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.325</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-3</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Brett Sullivan</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.308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.283</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-25</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Edouard Julien</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.321</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.283</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accent4"/>
                          </a:solidFill>
                        </a:rPr>
                        <a:t>-38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bl>
          </a:graphicData>
        </a:graphic>
      </p:graphicFrame>
      <p:sp>
        <p:nvSpPr>
          <p:cNvPr id="5" name="table-stayed-label"/>
          <p:cNvSpPr txBox="1"/>
          <p:nvPr/>
        </p:nvSpPr>
        <p:spPr>
          <a:xfrm>
            <a:off x="6263640" y="1417320"/>
            <a:ext cx="5349240" cy="411480"/>
          </a:xfrm>
          <a:prstGeom prst="rect">
            <a:avLst/>
          </a:prstGeom>
          <a:noFill/>
          <a:ln/>
        </p:spPr>
        <p:txBody>
          <a:bodyPr wrap="square" lIns="0" tIns="0" rIns="0" bIns="0" rtlCol="0" anchor="ctr"/>
          <a:lstStyle/>
          <a:p>
            <a:pPr indent="0" marL="0">
              <a:buNone/>
            </a:pPr>
            <a:r>
              <a:rPr lang="en-US" sz="1800" b="1" dirty="0">
                <a:solidFill>
                  <a:schemeClr val="tx2"/>
                </a:solidFill>
              </a:rPr>
              <a:t>Stayed with the Rockies</a:t>
            </a:r>
            <a:endParaRPr lang="en-US" sz="1800" dirty="0"/>
          </a:p>
        </p:txBody>
      </p:sp>
      <p:graphicFrame>
        <p:nvGraphicFramePr>
          <p:cNvPr id="15" name="table-stayed"/>
          <p:cNvGraphicFramePr>
            <a:graphicFrameLocks noGrp="1"/>
          </p:cNvGraphicFramePr>
          <p:nvPr>
            <p:extLst>
              <p:ext uri="{D42A27DB-BD31-4B8C-83A1-F6EECF244321}">
                <p14:modId xmlns:p14="http://schemas.microsoft.com/office/powerpoint/2010/main" val="1579011935"/>
              </p:ext>
            </p:extLst>
          </p:nvPr>
        </p:nvGraphicFramePr>
        <p:xfrm>
          <a:off x="6263640" y="1920240"/>
          <a:ext cx="5349240" cy="914400"/>
        </p:xfrm>
        <a:graphic>
          <a:graphicData uri="http://schemas.openxmlformats.org/drawingml/2006/table">
            <a:tbl>
              <a:tblPr/>
              <a:tblGrid>
                <a:gridCol w="2331720"/>
                <a:gridCol w="1005840"/>
                <a:gridCol w="1005840"/>
                <a:gridCol w="1005840"/>
              </a:tblGrid>
              <a:tr h="438912">
                <a:tc>
                  <a:txBody>
                    <a:bodyPr/>
                    <a:lstStyle/>
                    <a:p>
                      <a:pPr algn="l" indent="0" marL="0">
                        <a:buNone/>
                      </a:pPr>
                      <a:r>
                        <a:rPr lang="en-US" sz="1500" b="1" dirty="0">
                          <a:solidFill>
                            <a:schemeClr val="bg1"/>
                          </a:solidFill>
                        </a:rPr>
                        <a:t>Hitter</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Projected</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Actual</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Miss</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solidFill>
                      <a:schemeClr val="tx2"/>
                    </a:solidFill>
                  </a:tcPr>
                </a:tc>
              </a:tr>
              <a:tr h="438912">
                <a:tc>
                  <a:txBody>
                    <a:bodyPr/>
                    <a:lstStyle/>
                    <a:p>
                      <a:pPr indent="0" marL="0">
                        <a:buNone/>
                      </a:pPr>
                      <a:r>
                        <a:rPr lang="en-US" sz="1500" dirty="0">
                          <a:solidFill>
                            <a:schemeClr val="tx1"/>
                          </a:solidFill>
                        </a:rPr>
                        <a:t>Hunter Goodman</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.336</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.354</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+18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Kyle Karros</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.318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.334</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+16</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Mickey Moniak</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.318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-10</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Tyler Freeman</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.312</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.283</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tx1"/>
                          </a:solidFill>
                        </a:rPr>
                        <a:t>-29</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Brenton Doyle</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.301</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.258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accent4"/>
                          </a:solidFill>
                        </a:rPr>
                        <a:t>-43</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Ezequiel Tovar</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.320</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.268</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accent4"/>
                          </a:solidFill>
                        </a:rPr>
                        <a:t>-52</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r h="438912">
                <a:tc>
                  <a:txBody>
                    <a:bodyPr/>
                    <a:lstStyle/>
                    <a:p>
                      <a:pPr indent="0" marL="0">
                        <a:buNone/>
                      </a:pPr>
                      <a:r>
                        <a:rPr lang="en-US" sz="1500" dirty="0">
                          <a:solidFill>
                            <a:schemeClr val="tx1"/>
                          </a:solidFill>
                        </a:rPr>
                        <a:t>Jordan Beck</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.315</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dirty="0">
                          <a:solidFill>
                            <a:schemeClr val="tx1"/>
                          </a:solidFill>
                        </a:rPr>
                        <a:t>.246</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c>
                  <a:txBody>
                    <a:bodyPr/>
                    <a:lstStyle/>
                    <a:p>
                      <a:pPr algn="r" indent="0" marL="0">
                        <a:buNone/>
                      </a:pPr>
                      <a:r>
                        <a:rPr lang="en-US" sz="1500" b="1" dirty="0">
                          <a:solidFill>
                            <a:schemeClr val="accent4"/>
                          </a:solidFill>
                        </a:rPr>
                        <a:t>-69</a:t>
                      </a:r>
                      <a:endParaRPr lang="en-US" sz="1500" dirty="0"/>
                    </a:p>
                  </a:txBody>
                  <a:tcPr marL="109728" marR="109728" marT="0" marB="0" anchor="ctr">
                    <a:lnL w="9525" cap="flat" cmpd="sng" algn="ctr">
                      <a:solidFill>
                        <a:srgbClr val="DDD8E3"/>
                      </a:solidFill>
                      <a:prstDash val="solid"/>
                      <a:round/>
                      <a:headEnd type="none" w="med" len="med"/>
                      <a:tailEnd type="none" w="med" len="med"/>
                    </a:lnL>
                    <a:lnR w="9525" cap="flat" cmpd="sng" algn="ctr">
                      <a:solidFill>
                        <a:srgbClr val="DDD8E3"/>
                      </a:solidFill>
                      <a:prstDash val="solid"/>
                      <a:round/>
                      <a:headEnd type="none" w="med" len="med"/>
                      <a:tailEnd type="none" w="med" len="med"/>
                    </a:lnR>
                    <a:lnT w="9525" cap="flat" cmpd="sng" algn="ctr">
                      <a:solidFill>
                        <a:srgbClr val="DDD8E3"/>
                      </a:solidFill>
                      <a:prstDash val="solid"/>
                      <a:round/>
                      <a:headEnd type="none" w="med" len="med"/>
                      <a:tailEnd type="none" w="med" len="med"/>
                    </a:lnT>
                    <a:lnB w="9525" cap="flat" cmpd="sng" algn="ctr">
                      <a:solidFill>
                        <a:srgbClr val="DDD8E3"/>
                      </a:solidFill>
                      <a:prstDash val="solid"/>
                      <a:round/>
                      <a:headEnd type="none" w="med" len="med"/>
                      <a:tailEnd type="none" w="med" len="med"/>
                    </a:lnB>
                  </a:tcPr>
                </a:tc>
              </a:tr>
            </a:tbl>
          </a:graphicData>
        </a:graphic>
      </p:graphicFrame>
      <p:sp>
        <p:nvSpPr>
          <p:cNvPr id="7" name="table-footnote"/>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200" i="1" dirty="0">
                <a:solidFill>
                  <a:schemeClr val="accent5"/>
                </a:solidFill>
              </a:rPr>
              <a:t>2026 wOBA projected by the park + Rockies model vs actual; miss in points (1 point = .001). Misses of 30+ points below projection in orange.</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200" b="1" dirty="0">
                <a:solidFill>
                  <a:schemeClr val="bg1"/>
                </a:solidFill>
              </a:rPr>
              <a:t>Next: fix the holdover bias, then broaden the model</a:t>
            </a:r>
            <a:endParaRPr lang="en-US" sz="3200" dirty="0"/>
          </a:p>
        </p:txBody>
      </p:sp>
      <p:sp>
        <p:nvSpPr>
          <p:cNvPr id="3" name="next-dot-1"/>
          <p:cNvSpPr/>
          <p:nvPr/>
        </p:nvSpPr>
        <p:spPr>
          <a:xfrm>
            <a:off x="548640" y="1600200"/>
            <a:ext cx="640080" cy="640080"/>
          </a:xfrm>
          <a:prstGeom prst="ellipse">
            <a:avLst/>
          </a:prstGeom>
          <a:solidFill>
            <a:schemeClr val="accent4"/>
          </a:solidFill>
          <a:ln w="12700">
            <a:solidFill>
              <a:schemeClr val="accent4"/>
            </a:solidFill>
            <a:prstDash val="solid"/>
          </a:ln>
        </p:spPr>
      </p:sp>
      <p:sp>
        <p:nvSpPr>
          <p:cNvPr id="4" name="next-num-1"/>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5" name="next-name-1"/>
          <p:cNvSpPr txBox="1"/>
          <p:nvPr/>
        </p:nvSpPr>
        <p:spPr>
          <a:xfrm>
            <a:off x="1417320" y="1581912"/>
            <a:ext cx="4480560" cy="457200"/>
          </a:xfrm>
          <a:prstGeom prst="rect">
            <a:avLst/>
          </a:prstGeom>
          <a:noFill/>
          <a:ln/>
        </p:spPr>
        <p:txBody>
          <a:bodyPr wrap="square" lIns="0" tIns="0" rIns="0" bIns="0" rtlCol="0" anchor="ctr"/>
          <a:lstStyle/>
          <a:p>
            <a:pPr indent="0" marL="0">
              <a:buNone/>
            </a:pPr>
            <a:r>
              <a:rPr lang="en-US" sz="2000" b="1" dirty="0">
                <a:solidFill>
                  <a:schemeClr val="bg1"/>
                </a:solidFill>
              </a:rPr>
              <a:t>Regress toward a role-based mean</a:t>
            </a:r>
            <a:endParaRPr lang="en-US" sz="2000" dirty="0"/>
          </a:p>
        </p:txBody>
      </p:sp>
      <p:sp>
        <p:nvSpPr>
          <p:cNvPr id="6" name="next-desc-1"/>
          <p:cNvSpPr txBox="1"/>
          <p:nvPr/>
        </p:nvSpPr>
        <p:spPr>
          <a:xfrm>
            <a:off x="1417320" y="2103120"/>
            <a:ext cx="4480560" cy="1188720"/>
          </a:xfrm>
          <a:prstGeom prst="rect">
            <a:avLst/>
          </a:prstGeom>
          <a:noFill/>
          <a:ln/>
        </p:spPr>
        <p:txBody>
          <a:bodyPr wrap="square" lIns="0" tIns="0" rIns="0" bIns="0" rtlCol="0" anchor="t"/>
          <a:lstStyle/>
          <a:p>
            <a:pPr indent="0" marL="0">
              <a:buNone/>
            </a:pPr>
            <a:r>
              <a:rPr lang="en-US" sz="1500" dirty="0">
                <a:solidFill>
                  <a:schemeClr val="accent3"/>
                </a:solidFill>
              </a:rPr>
              <a:t>Pull hitters toward peers with similar playing time, not league average; targets the holdover overprojection directly.</a:t>
            </a:r>
            <a:endParaRPr lang="en-US" sz="1500" dirty="0"/>
          </a:p>
        </p:txBody>
      </p:sp>
      <p:sp>
        <p:nvSpPr>
          <p:cNvPr id="7" name="next-dot-2"/>
          <p:cNvSpPr/>
          <p:nvPr/>
        </p:nvSpPr>
        <p:spPr>
          <a:xfrm>
            <a:off x="6217920" y="1600200"/>
            <a:ext cx="640080" cy="640080"/>
          </a:xfrm>
          <a:prstGeom prst="ellipse">
            <a:avLst/>
          </a:prstGeom>
          <a:solidFill>
            <a:schemeClr val="accent3"/>
          </a:solidFill>
          <a:ln w="12700">
            <a:solidFill>
              <a:schemeClr val="accent3"/>
            </a:solidFill>
            <a:prstDash val="solid"/>
          </a:ln>
        </p:spPr>
      </p:sp>
      <p:sp>
        <p:nvSpPr>
          <p:cNvPr id="8" name="next-num-2"/>
          <p:cNvSpPr txBox="1"/>
          <p:nvPr/>
        </p:nvSpPr>
        <p:spPr>
          <a:xfrm>
            <a:off x="6217920" y="160020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9" name="next-name-2"/>
          <p:cNvSpPr txBox="1"/>
          <p:nvPr/>
        </p:nvSpPr>
        <p:spPr>
          <a:xfrm>
            <a:off x="7086600" y="1581912"/>
            <a:ext cx="4480560" cy="457200"/>
          </a:xfrm>
          <a:prstGeom prst="rect">
            <a:avLst/>
          </a:prstGeom>
          <a:noFill/>
          <a:ln/>
        </p:spPr>
        <p:txBody>
          <a:bodyPr wrap="square" lIns="0" tIns="0" rIns="0" bIns="0" rtlCol="0" anchor="ctr"/>
          <a:lstStyle/>
          <a:p>
            <a:pPr indent="0" marL="0">
              <a:buNone/>
            </a:pPr>
            <a:r>
              <a:rPr lang="en-US" sz="2000" b="1" dirty="0">
                <a:solidFill>
                  <a:schemeClr val="bg1"/>
                </a:solidFill>
              </a:rPr>
              <a:t>Re-baseline to the run environment</a:t>
            </a:r>
            <a:endParaRPr lang="en-US" sz="2000" dirty="0"/>
          </a:p>
        </p:txBody>
      </p:sp>
      <p:sp>
        <p:nvSpPr>
          <p:cNvPr id="10" name="next-desc-2"/>
          <p:cNvSpPr txBox="1"/>
          <p:nvPr/>
        </p:nvSpPr>
        <p:spPr>
          <a:xfrm>
            <a:off x="7086600" y="2103120"/>
            <a:ext cx="4480560" cy="1188720"/>
          </a:xfrm>
          <a:prstGeom prst="rect">
            <a:avLst/>
          </a:prstGeom>
          <a:noFill/>
          <a:ln/>
        </p:spPr>
        <p:txBody>
          <a:bodyPr wrap="square" lIns="0" tIns="0" rIns="0" bIns="0" rtlCol="0" anchor="t"/>
          <a:lstStyle/>
          <a:p>
            <a:pPr indent="0" marL="0">
              <a:buNone/>
            </a:pPr>
            <a:r>
              <a:rPr lang="en-US" sz="1500" dirty="0">
                <a:solidFill>
                  <a:schemeClr val="accent3"/>
                </a:solidFill>
              </a:rPr>
              <a:t>Anchor to the latest season's league rates; removes the ~5-point league-wide overprojection.</a:t>
            </a:r>
            <a:endParaRPr lang="en-US" sz="1500" dirty="0"/>
          </a:p>
        </p:txBody>
      </p:sp>
      <p:sp>
        <p:nvSpPr>
          <p:cNvPr id="11" name="next-dot-3"/>
          <p:cNvSpPr/>
          <p:nvPr/>
        </p:nvSpPr>
        <p:spPr>
          <a:xfrm>
            <a:off x="548640" y="3794760"/>
            <a:ext cx="640080" cy="640080"/>
          </a:xfrm>
          <a:prstGeom prst="ellipse">
            <a:avLst/>
          </a:prstGeom>
          <a:solidFill>
            <a:schemeClr val="accent3"/>
          </a:solidFill>
          <a:ln w="12700">
            <a:solidFill>
              <a:schemeClr val="accent3"/>
            </a:solidFill>
            <a:prstDash val="solid"/>
          </a:ln>
        </p:spPr>
      </p:sp>
      <p:sp>
        <p:nvSpPr>
          <p:cNvPr id="12" name="next-num-3"/>
          <p:cNvSpPr txBox="1"/>
          <p:nvPr/>
        </p:nvSpPr>
        <p:spPr>
          <a:xfrm>
            <a:off x="548640" y="379476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3" name="next-name-3"/>
          <p:cNvSpPr txBox="1"/>
          <p:nvPr/>
        </p:nvSpPr>
        <p:spPr>
          <a:xfrm>
            <a:off x="1417320" y="3776472"/>
            <a:ext cx="4480560" cy="457200"/>
          </a:xfrm>
          <a:prstGeom prst="rect">
            <a:avLst/>
          </a:prstGeom>
          <a:noFill/>
          <a:ln/>
        </p:spPr>
        <p:txBody>
          <a:bodyPr wrap="square" lIns="0" tIns="0" rIns="0" bIns="0" rtlCol="0" anchor="ctr"/>
          <a:lstStyle/>
          <a:p>
            <a:pPr indent="0" marL="0">
              <a:buNone/>
            </a:pPr>
            <a:r>
              <a:rPr lang="en-US" sz="2000" b="1" dirty="0">
                <a:solidFill>
                  <a:schemeClr val="bg1"/>
                </a:solidFill>
              </a:rPr>
              <a:t>Add Statcast inputs</a:t>
            </a:r>
            <a:endParaRPr lang="en-US" sz="2000" dirty="0"/>
          </a:p>
        </p:txBody>
      </p:sp>
      <p:sp>
        <p:nvSpPr>
          <p:cNvPr id="14" name="next-desc-3"/>
          <p:cNvSpPr txBox="1"/>
          <p:nvPr/>
        </p:nvSpPr>
        <p:spPr>
          <a:xfrm>
            <a:off x="1417320" y="4297680"/>
            <a:ext cx="4480560" cy="1188720"/>
          </a:xfrm>
          <a:prstGeom prst="rect">
            <a:avLst/>
          </a:prstGeom>
          <a:noFill/>
          <a:ln/>
        </p:spPr>
        <p:txBody>
          <a:bodyPr wrap="square" lIns="0" tIns="0" rIns="0" bIns="0" rtlCol="0" anchor="t"/>
          <a:lstStyle/>
          <a:p>
            <a:pPr indent="0" marL="0">
              <a:buNone/>
            </a:pPr>
            <a:r>
              <a:rPr lang="en-US" sz="1500" dirty="0">
                <a:solidFill>
                  <a:schemeClr val="accent3"/>
                </a:solidFill>
              </a:rPr>
              <a:t>Exit velocity, launch angle, sprint speed and spray direction likely interact with Coors in ways a flat multiplier misses.</a:t>
            </a:r>
            <a:endParaRPr lang="en-US" sz="1500" dirty="0"/>
          </a:p>
        </p:txBody>
      </p:sp>
      <p:sp>
        <p:nvSpPr>
          <p:cNvPr id="15" name="next-dot-4"/>
          <p:cNvSpPr/>
          <p:nvPr/>
        </p:nvSpPr>
        <p:spPr>
          <a:xfrm>
            <a:off x="6217920" y="3794760"/>
            <a:ext cx="640080" cy="640080"/>
          </a:xfrm>
          <a:prstGeom prst="ellipse">
            <a:avLst/>
          </a:prstGeom>
          <a:solidFill>
            <a:schemeClr val="accent3"/>
          </a:solidFill>
          <a:ln w="12700">
            <a:solidFill>
              <a:schemeClr val="accent3"/>
            </a:solidFill>
            <a:prstDash val="solid"/>
          </a:ln>
        </p:spPr>
      </p:sp>
      <p:sp>
        <p:nvSpPr>
          <p:cNvPr id="16" name="next-num-4"/>
          <p:cNvSpPr txBox="1"/>
          <p:nvPr/>
        </p:nvSpPr>
        <p:spPr>
          <a:xfrm>
            <a:off x="6217920" y="379476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17" name="next-name-4"/>
          <p:cNvSpPr txBox="1"/>
          <p:nvPr/>
        </p:nvSpPr>
        <p:spPr>
          <a:xfrm>
            <a:off x="7086600" y="3776472"/>
            <a:ext cx="4480560" cy="457200"/>
          </a:xfrm>
          <a:prstGeom prst="rect">
            <a:avLst/>
          </a:prstGeom>
          <a:noFill/>
          <a:ln/>
        </p:spPr>
        <p:txBody>
          <a:bodyPr wrap="square" lIns="0" tIns="0" rIns="0" bIns="0" rtlCol="0" anchor="ctr"/>
          <a:lstStyle/>
          <a:p>
            <a:pPr indent="0" marL="0">
              <a:buNone/>
            </a:pPr>
            <a:r>
              <a:rPr lang="en-US" sz="2000" b="1" dirty="0">
                <a:solidFill>
                  <a:schemeClr val="bg1"/>
                </a:solidFill>
              </a:rPr>
              <a:t>Extend to pitchers</a:t>
            </a:r>
            <a:endParaRPr lang="en-US" sz="2000" dirty="0"/>
          </a:p>
        </p:txBody>
      </p:sp>
      <p:sp>
        <p:nvSpPr>
          <p:cNvPr id="18" name="next-desc-4"/>
          <p:cNvSpPr txBox="1"/>
          <p:nvPr/>
        </p:nvSpPr>
        <p:spPr>
          <a:xfrm>
            <a:off x="7086600" y="4297680"/>
            <a:ext cx="4480560" cy="1188720"/>
          </a:xfrm>
          <a:prstGeom prst="rect">
            <a:avLst/>
          </a:prstGeom>
          <a:noFill/>
          <a:ln/>
        </p:spPr>
        <p:txBody>
          <a:bodyPr wrap="square" lIns="0" tIns="0" rIns="0" bIns="0" rtlCol="0" anchor="t"/>
          <a:lstStyle/>
          <a:p>
            <a:pPr indent="0" marL="0">
              <a:buNone/>
            </a:pPr>
            <a:r>
              <a:rPr lang="en-US" sz="1500" dirty="0">
                <a:solidFill>
                  <a:schemeClr val="accent3"/>
                </a:solidFill>
              </a:rPr>
              <a:t>The same outcome-by-outcome framework applies, and Coors matters even more for pitcher evaluation.</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ltitude">
  <a:themeElements>
    <a:clrScheme name="Altitude">
      <a:dk1>
        <a:srgbClr val="1F1A24"/>
      </a:dk1>
      <a:lt1>
        <a:srgbClr val="FFFFFF"/>
      </a:lt1>
      <a:dk2>
        <a:srgbClr val="2B1B45"/>
      </a:dk2>
      <a:lt2>
        <a:srgbClr val="F2EFF6"/>
      </a:lt2>
      <a:accent1>
        <a:srgbClr val="5B3A8C"/>
      </a:accent1>
      <a:accent2>
        <a:srgbClr val="A7A2AE"/>
      </a:accent2>
      <a:accent3>
        <a:srgbClr val="B9A6D6"/>
      </a:accent3>
      <a:accent4>
        <a:srgbClr val="D9682B"/>
      </a:accent4>
      <a:accent5>
        <a:srgbClr val="6F6A76"/>
      </a:accent5>
      <a:accent6>
        <a:srgbClr val="3E8E6A"/>
      </a:accent6>
      <a:hlink>
        <a:srgbClr val="5B3A8C"/>
      </a:hlink>
      <a:folHlink>
        <a:srgbClr val="6F6A76"/>
      </a:folHlink>
    </a:clrScheme>
    <a:fontScheme name="Altitu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Projecting Hitters at Altitude</dc:title>
  <dc:subject>PptxGenJS Presentation</dc:subject>
  <dc:creator>Dan Tunningley</dc:creator>
  <cp:lastModifiedBy>Dan Tunningley</cp:lastModifiedBy>
  <cp:revision>1</cp:revision>
  <dcterms:created xsi:type="dcterms:W3CDTF">2026-10-27T13:06:43Z</dcterms:created>
  <dcterms:modified xsi:type="dcterms:W3CDTF">2026-10-27T13:06:43Z</dcterms:modified>
</cp:coreProperties>
</file>